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439827b2dc4c07" /><Relationship Type="http://schemas.openxmlformats.org/officeDocument/2006/relationships/extended-properties" Target="/docProps/app.xml" Id="Re039a1dcc7de4fd7" /><Relationship Type="http://schemas.openxmlformats.org/officeDocument/2006/relationships/officeDocument" Target="/ppt/presentation.xml" Id="Rc7c26b90b27148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997e9d518b4b93"/>
  </p:sldMasterIdLst>
  <p:notesMasterIdLst>
    <p:notesMasterId xmlns:r="http://schemas.openxmlformats.org/officeDocument/2006/relationships" r:id="Rf6a36a1d67ec49d4"/>
  </p:notesMasterIdLst>
  <p:sldIdLst>
    <p:sldId xmlns:r="http://schemas.openxmlformats.org/officeDocument/2006/relationships" id="256" r:id="R4f7b4903ce594863"/>
    <p:sldId xmlns:r="http://schemas.openxmlformats.org/officeDocument/2006/relationships" id="257" r:id="Rf29141e10eb1487a"/>
    <p:sldId xmlns:r="http://schemas.openxmlformats.org/officeDocument/2006/relationships" id="258" r:id="Rf2a3e3a13a584506"/>
    <p:sldId xmlns:r="http://schemas.openxmlformats.org/officeDocument/2006/relationships" id="259" r:id="R91e7e08f9ee7458f"/>
    <p:sldId xmlns:r="http://schemas.openxmlformats.org/officeDocument/2006/relationships" id="260" r:id="Rae609fb3d1aa4b2d"/>
    <p:sldId xmlns:r="http://schemas.openxmlformats.org/officeDocument/2006/relationships" id="261" r:id="Re354b8b52b7e4ca3"/>
    <p:sldId xmlns:r="http://schemas.openxmlformats.org/officeDocument/2006/relationships" id="262" r:id="R990ff400588e42f9"/>
    <p:sldId xmlns:r="http://schemas.openxmlformats.org/officeDocument/2006/relationships" id="263" r:id="R58cdd699582b4e95"/>
    <p:sldId xmlns:r="http://schemas.openxmlformats.org/officeDocument/2006/relationships" id="264" r:id="Rfad8609b1deb400a"/>
    <p:sldId xmlns:r="http://schemas.openxmlformats.org/officeDocument/2006/relationships" id="265" r:id="Rac4230299af04cef"/>
    <p:sldId xmlns:r="http://schemas.openxmlformats.org/officeDocument/2006/relationships" id="266" r:id="Ra1ba4057be864e19"/>
    <p:sldId xmlns:r="http://schemas.openxmlformats.org/officeDocument/2006/relationships" id="267" r:id="Rae22ecf638cd49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97c501dda74745" /><Relationship Type="http://schemas.openxmlformats.org/officeDocument/2006/relationships/slideMaster" Target="/ppt/slideMasters/slideMaster1.xml" Id="Rbb997e9d518b4b93" /><Relationship Type="http://schemas.openxmlformats.org/officeDocument/2006/relationships/notesMaster" Target="/ppt/notesMasters/notesMaster1.xml" Id="Rf6a36a1d67ec49d4" /><Relationship Type="http://schemas.openxmlformats.org/officeDocument/2006/relationships/presProps" Target="/ppt/presProps.xml" Id="Rf9fc406377fc4c5e" /><Relationship Type="http://schemas.openxmlformats.org/officeDocument/2006/relationships/tableStyles" Target="/ppt/tableStyles.xml" Id="R6e4c0914e61a4135" /><Relationship Type="http://schemas.openxmlformats.org/officeDocument/2006/relationships/slide" Target="/ppt/slides/slide1.xml" Id="R4f7b4903ce594863" /><Relationship Type="http://schemas.openxmlformats.org/officeDocument/2006/relationships/slide" Target="/ppt/slides/slide2.xml" Id="Rf29141e10eb1487a" /><Relationship Type="http://schemas.openxmlformats.org/officeDocument/2006/relationships/slide" Target="/ppt/slides/slide3.xml" Id="Rf2a3e3a13a584506" /><Relationship Type="http://schemas.openxmlformats.org/officeDocument/2006/relationships/slide" Target="/ppt/slides/slide4.xml" Id="R91e7e08f9ee7458f" /><Relationship Type="http://schemas.openxmlformats.org/officeDocument/2006/relationships/slide" Target="/ppt/slides/slide5.xml" Id="Rae609fb3d1aa4b2d" /><Relationship Type="http://schemas.openxmlformats.org/officeDocument/2006/relationships/slide" Target="/ppt/slides/slide6.xml" Id="Re354b8b52b7e4ca3" /><Relationship Type="http://schemas.openxmlformats.org/officeDocument/2006/relationships/slide" Target="/ppt/slides/slide7.xml" Id="R990ff400588e42f9" /><Relationship Type="http://schemas.openxmlformats.org/officeDocument/2006/relationships/slide" Target="/ppt/slides/slide8.xml" Id="R58cdd699582b4e95" /><Relationship Type="http://schemas.openxmlformats.org/officeDocument/2006/relationships/slide" Target="/ppt/slides/slide9.xml" Id="Rfad8609b1deb400a" /><Relationship Type="http://schemas.openxmlformats.org/officeDocument/2006/relationships/slide" Target="/ppt/slides/slide10.xml" Id="Rac4230299af04cef" /><Relationship Type="http://schemas.openxmlformats.org/officeDocument/2006/relationships/slide" Target="/ppt/slides/slide11.xml" Id="Ra1ba4057be864e19" /><Relationship Type="http://schemas.openxmlformats.org/officeDocument/2006/relationships/slide" Target="/ppt/slides/slide12.xml" Id="Rae22ecf638cd49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4a8b793e014a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ff31a091cf24d29" /><Relationship Type="http://schemas.openxmlformats.org/officeDocument/2006/relationships/notesMaster" Target="/ppt/notesMasters/notesMaster1.xml" Id="R67fd5191d94246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7099f241702433b" /><Relationship Type="http://schemas.openxmlformats.org/officeDocument/2006/relationships/notesMaster" Target="/ppt/notesMasters/notesMaster1.xml" Id="R68121b45aabb4f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6e30903c5954e63" /><Relationship Type="http://schemas.openxmlformats.org/officeDocument/2006/relationships/notesMaster" Target="/ppt/notesMasters/notesMaster1.xml" Id="R48d36ef86d56472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58111647e6481f" /><Relationship Type="http://schemas.openxmlformats.org/officeDocument/2006/relationships/notesMaster" Target="/ppt/notesMasters/notesMaster1.xml" Id="R29355826a56f45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12cfa90bd27449c" /><Relationship Type="http://schemas.openxmlformats.org/officeDocument/2006/relationships/notesMaster" Target="/ppt/notesMasters/notesMaster1.xml" Id="R2436b6eec708481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839dbad0394838" /><Relationship Type="http://schemas.openxmlformats.org/officeDocument/2006/relationships/notesMaster" Target="/ppt/notesMasters/notesMaster1.xml" Id="Rce5b2c74507b41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784a3f30e584cc2" /><Relationship Type="http://schemas.openxmlformats.org/officeDocument/2006/relationships/notesMaster" Target="/ppt/notesMasters/notesMaster1.xml" Id="Rc170f57f34684e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80241e7f7164afc" /><Relationship Type="http://schemas.openxmlformats.org/officeDocument/2006/relationships/notesMaster" Target="/ppt/notesMasters/notesMaster1.xml" Id="Ra40648b0b4324d7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80ea106e854655" /><Relationship Type="http://schemas.openxmlformats.org/officeDocument/2006/relationships/notesMaster" Target="/ppt/notesMasters/notesMaster1.xml" Id="R6171c5c29a2344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7383439832249e5" /><Relationship Type="http://schemas.openxmlformats.org/officeDocument/2006/relationships/notesMaster" Target="/ppt/notesMasters/notesMaster1.xml" Id="R710b70979b454f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ac2ef7d1bfd4362" /><Relationship Type="http://schemas.openxmlformats.org/officeDocument/2006/relationships/notesMaster" Target="/ppt/notesMasters/notesMaster1.xml" Id="R723112ce56ce407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504f2caf6084115" /><Relationship Type="http://schemas.openxmlformats.org/officeDocument/2006/relationships/notesMaster" Target="/ppt/notesMasters/notesMaster1.xml" Id="Rba92526352dd49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Company and founder details from the OpenVC dashboard screenshot supplied by the user. The one-sentence description reflects docs/PRODUCT.md and the current product code.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Nerve positioning and product hypothesis from docs/NERVE-SPEC.md and app/page.tsx. This is a customer problem statement, not a quantified prevalence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Product behavior from docs/PRODUCT.md. Screenshot: public/shots/train.webp, a product UI image in the repository. UI values shown in the screenshot are demonstration content and are not 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Interview features and pricing from docs/PRODUCT.md and app/interviews/page.tsx. Screenshot: public/shots/interview-home.webp, a product UI image in the repository. Screenshot fields are illustrative product content, not customer data.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Scoring behavior from docs/PRODUCT.md, sections on dating and interview tracks. Screenshot: public/shots/scorecard.webp, a product UI image in the repository. Screenshot score is illustrative UI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product loop synthesized from docs/PRODUCT.md and docs/RETENTION-AUDIT.md. No outcome or retention rate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Pricing from docs/PRODUCT.md and docs/LAUNCH-GAP.md D18-D19, checked against app/pricing/page.tsx and lib/billing/plans.ts. Prices are current repository configuration as inspected 12 Sep 2026, not a claim about revenue.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Internal product snapshot: docs/INTERVIEW-PLAN.md §15 and docs/LAUNCH-GAP.md D21. 89 sessions across 17 users at the 7 Sep 2026 track-filter audit; 42 visits from TikTok and Meta from 4–10 Sep with 0 new accounts. These figures are dated, include possible tests, and do not establish retention, paying conversion, or product-market fit.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Customer segments are Nerve’s current product positioning in docs/PRODUCT.md and docs/MARKETING-PLAN.md. This slide intentionally makes no quantified TAM claim because no defensible bottom-up market estimate was available in the supplied materials.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60-day US launch plan and $340 budget from docs/MARKETING-PLAN.md. The /start funnel instrumentation shipped 11 Sep 2026 per docs/LAUNCH-GAP.md D21. The plan is a test, not achieved traction.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Founder name, team size and Sri Lanka location from the supplied OpenVC dashboard screenshot. Product status from docs/PRODUCT.md. No education, work history, or unsupported personal credentials are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Raise target of $100k from the user-supplied OpenVC dashboard screenshot. Milestones are a proposed use-of-funds framework, not a representation of an approved budget or guaranteed outcome.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e44cf29d3c45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e19e410784643f6" /><Relationship Type="http://schemas.openxmlformats.org/officeDocument/2006/relationships/slideLayout" Target="/ppt/slideLayouts/slideLayout1.xml" Id="Rfa70b3121c1240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70b3121c1240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1e7087233402b" /><Relationship Type="http://schemas.openxmlformats.org/officeDocument/2006/relationships/image" Target="/ppt/media/image.png" Id="Rf66ac29845494618" /><Relationship Type="http://schemas.openxmlformats.org/officeDocument/2006/relationships/notesSlide" Target="/ppt/notesSlides/notesSlide1.xml" Id="Ra866108381664a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164491f8bb4a80" /><Relationship Type="http://schemas.openxmlformats.org/officeDocument/2006/relationships/notesSlide" Target="/ppt/notesSlides/notesSlide2.xml" Id="R87e783afad1e49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49fae41d9437b" /><Relationship Type="http://schemas.openxmlformats.org/officeDocument/2006/relationships/image" Target="/ppt/media/image2.png" Id="R1426d4d8d1174ce6" /><Relationship Type="http://schemas.openxmlformats.org/officeDocument/2006/relationships/notesSlide" Target="/ppt/notesSlides/notesSlide3.xml" Id="Radfe88a470f541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3f5bbbbe9c49bd" /><Relationship Type="http://schemas.openxmlformats.org/officeDocument/2006/relationships/image" Target="/ppt/media/image3.png" Id="R280660dc3d8640b2" /><Relationship Type="http://schemas.openxmlformats.org/officeDocument/2006/relationships/notesSlide" Target="/ppt/notesSlides/notesSlide4.xml" Id="R63b94886c9cc4b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24dc2ab96450d" /><Relationship Type="http://schemas.openxmlformats.org/officeDocument/2006/relationships/image" Target="/ppt/media/image4.png" Id="R0671895c8de84072" /><Relationship Type="http://schemas.openxmlformats.org/officeDocument/2006/relationships/notesSlide" Target="/ppt/notesSlides/notesSlide5.xml" Id="R9564e2eff6c6446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efc3bfd764280" /><Relationship Type="http://schemas.openxmlformats.org/officeDocument/2006/relationships/notesSlide" Target="/ppt/notesSlides/notesSlide6.xml" Id="R196f447cec1445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49efeca5284fc2" /><Relationship Type="http://schemas.openxmlformats.org/officeDocument/2006/relationships/notesSlide" Target="/ppt/notesSlides/notesSlide7.xml" Id="R45a546fe09e842f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8845d9261b4e7c" /><Relationship Type="http://schemas.openxmlformats.org/officeDocument/2006/relationships/notesSlide" Target="/ppt/notesSlides/notesSlide8.xml" Id="R54cee2fe6c7146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2d1c9c0a9e4d5a" /><Relationship Type="http://schemas.openxmlformats.org/officeDocument/2006/relationships/notesSlide" Target="/ppt/notesSlides/notesSlide9.xml" Id="R97d7ea7bc45c41a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1dabfec904191" /><Relationship Type="http://schemas.openxmlformats.org/officeDocument/2006/relationships/notesSlide" Target="/ppt/notesSlides/notesSlide10.xml" Id="R5f9116c62f334a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c70f55f22f49a0" /><Relationship Type="http://schemas.openxmlformats.org/officeDocument/2006/relationships/notesSlide" Target="/ppt/notesSlides/notesSlide11.xml" Id="R93a5c2537d3e4ab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297617cbc2453f" /><Relationship Type="http://schemas.openxmlformats.org/officeDocument/2006/relationships/notesSlide" Target="/ppt/notesSlides/notesSlide12.xml" Id="Rb126c3aa6acd4db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6ac29845494618"/>
          <a:stretch xmlns:a="http://schemas.openxmlformats.org/drawingml/2006/main"/>
        </p:blipFill>
        <p:spPr>
          <a:xfrm xmlns:a="http://schemas.openxmlformats.org/drawingml/2006/main">
            <a:off x="685800" y="590550"/>
            <a:ext cx="1095375" cy="1095375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FB46A4-5587-4C1B-A3AA-E9600E75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24050"/>
            <a:ext cx="714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6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NERVE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C0A656-47D1-4294-85BA-0F37F7FC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67050"/>
            <a:ext cx="952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33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An AI conversation gym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A8B73C-726D-4630-9D51-7BEE6B70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867150"/>
            <a:ext cx="9144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DEF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DEFE8"/>
                </a:solidFill>
                <a:latin typeface="Arial"/>
                <a:ea typeface="Arial"/>
                <a:cs typeface="Arial"/>
              </a:rPr>
              <a:t>Helping young adults speak with confidence in dating and job interviews.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E0F796-66A2-48C4-B750-72E45689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619750"/>
            <a:ext cx="10687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5B6741-D0C7-43E5-BFBC-F024A04AC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857875"/>
            <a:ext cx="571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EDEFE8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DEFE8"/>
                </a:solidFill>
                <a:latin typeface="Arial"/>
                <a:ea typeface="Arial"/>
                <a:cs typeface="Arial"/>
              </a:rPr>
              <a:t>Pabath Wedamuhand irama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372F3B-1AC8-4286-89D9-1BC7A0CB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8578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hellonerve.com</a:t>
            </a:r>
          </a:p>
        </p:txBody>
      </p:sp>
    </p:spTree>
    <p:extLst>
      <p:ext uri="{BB962C8B-B14F-4D97-AF65-F5344CB8AC3E}">
        <p14:creationId xmlns:p14="http://schemas.microsoft.com/office/powerpoint/2010/main" val="17116586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F2A22-5B64-4AA2-99BE-180D0E54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NERVE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3E2959-46FC-4FD7-A146-917B01C8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A70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706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950121-602A-45D8-889B-B684BD04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E51C89-A7C9-49ED-A3E6-65EDEF48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The 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0F4951-3B82-4B5F-9AAC-A97B5014E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10572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7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427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The conversations that matter most are the hardest to rehearse.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5A6502-4403-430B-8EB6-1F96F86F1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4114800"/>
            <a:ext cx="101917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A first date or job interview changes with every answer. Practice alone cannot reproduce hesitation, interruption, or rejection.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0241EE-0890-49F3-BCD2-9A6BC5817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9055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4F8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4F82A"/>
                </a:solidFill>
                <a:latin typeface="Arial"/>
                <a:ea typeface="Arial"/>
                <a:cs typeface="Arial"/>
              </a:rPr>
              <a:t>NERVE STARTS WITH REALISTIC VOICE PRACTICE</a:t>
            </a:r>
          </a:p>
        </p:txBody>
      </p:sp>
    </p:spTree>
    <p:extLst>
      <p:ext uri="{BB962C8B-B14F-4D97-AF65-F5344CB8AC3E}">
        <p14:creationId xmlns:p14="http://schemas.microsoft.com/office/powerpoint/2010/main" val="21268810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D0857E-42F2-43A8-8953-F30BF26C9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NERVE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0F15DD-E8B6-4AA2-B9D9-25296B6C4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A70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706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CA64F-C2F4-438E-89B8-78C45607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1C8A40-835E-4E16-8FF5-454EAA3D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A conversation gym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F11F02-CF1A-4052-A044-48C4471BA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4F8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4F82A"/>
                </a:solidFill>
                <a:latin typeface="Arial"/>
                <a:ea typeface="Arial"/>
                <a:cs typeface="Arial"/>
              </a:rPr>
              <a:t>VOICE REPS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C86FA0-F9D7-4BAE-829C-0D338EB87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52675"/>
            <a:ext cx="37909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EDEFE8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DEFE8"/>
                </a:solidFill>
                <a:latin typeface="Arial"/>
                <a:ea typeface="Arial"/>
                <a:cs typeface="Arial"/>
              </a:rPr>
              <a:t>Speak out loud with an AI character who responds in the moment.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4E0CCB-224C-41F1-82A3-45349D0E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76725"/>
            <a:ext cx="38576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The dating rep lasts three minutes. The character can lose interest, get distracted, or say no.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26d4d8d1174ce6"/>
          <a:srcRect xmlns:a="http://schemas.openxmlformats.org/drawingml/2006/main" l="784" t="0" r="78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62550" y="1743075"/>
            <a:ext cx="6324600" cy="45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1057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D5ECA0-B666-45B9-B99D-05ABA9F9F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NERVE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DD6C12-4BBE-4EBA-9D56-11D41896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A70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706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527BC8-85B6-4D4D-8804-576206719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5E2D77-DDBA-4A49-84FD-6976A3599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Interview practice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76D593-59C6-4677-B50F-2D52E9947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4F8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4F82A"/>
                </a:solidFill>
                <a:latin typeface="Arial"/>
                <a:ea typeface="Arial"/>
                <a:cs typeface="Arial"/>
              </a:rPr>
              <a:t>SECOND USE CASE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68E94B-39BD-4BF6-837C-9DA44D421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33625"/>
            <a:ext cx="39243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EDEFE8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EDEFE8"/>
                </a:solidFill>
                <a:latin typeface="Arial"/>
                <a:ea typeface="Arial"/>
                <a:cs typeface="Arial"/>
              </a:rPr>
              <a:t>Candidates practice with an interviewer who has read their CV and role.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2B16F2-2804-470B-B6E2-5947ABD7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76725"/>
            <a:ext cx="39243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Rounds run 5 to 25 minutes. Technical rounds can assess answer accuracy as well as delivery.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0660dc3d8640b2"/>
          <a:srcRect xmlns:a="http://schemas.openxmlformats.org/drawingml/2006/main" l="784" t="0" r="78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62550" y="1743075"/>
            <a:ext cx="6324600" cy="45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20758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46D146-393B-4101-9B35-1B9641F49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NERVE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71B344-34D2-4922-9F89-1CDD7A69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A70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706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BD2383-92AF-4FF7-A434-16284644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401EFD-8E32-49A9-BD42-19E71BBB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Feedback on what users can improve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8BDC0C-1109-4AB1-8A4B-F15D4969E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5262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4F8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4F82A"/>
                </a:solidFill>
                <a:latin typeface="Arial"/>
                <a:ea typeface="Arial"/>
                <a:cs typeface="Arial"/>
              </a:rPr>
              <a:t>AFTER EACH REP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45D341-6B9A-4663-9D8C-BC6BF50E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3857625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EDEFE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DEFE8"/>
                </a:solidFill>
                <a:latin typeface="Arial"/>
                <a:ea typeface="Arial"/>
                <a:cs typeface="Arial"/>
              </a:rPr>
              <a:t>A scorecard identifies the moment the conversation changed.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C4186B-6753-4E22-92B5-F85954FD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43350"/>
            <a:ext cx="3857625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Nerve grades how the user spoke, including questions, listening, and composure. A rejection can still be a strong rep.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71895c8de84072"/>
          <a:srcRect xmlns:a="http://schemas.openxmlformats.org/drawingml/2006/main" l="0" t="8465" r="0" b="84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62550" y="1743075"/>
            <a:ext cx="6324600" cy="45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69662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346C29-F4AD-4614-A6F5-CD13CC8B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NERVE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F71C6-E723-4488-8E6A-D378D6D83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A70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706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185540-60A7-435B-B3C4-4C218FC3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2707C8-DFE5-4F3D-8D32-3C688287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The practice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661C34-FA83-401A-8712-D8BD2E791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2625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F1D979-EFFB-404B-BA7D-D682FF87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2047875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247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Voice rep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BD63BA-61A8-415E-93F9-F1ADC2F1D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076450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A timed conversation creates a real attempt.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C08215-1A74-40E1-9DC8-E3BAC3B8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09875"/>
            <a:ext cx="10734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6AD12-8B9B-4D51-BCC2-E5BF1AB13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146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2625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DC51E1-4799-44C8-BEE5-83F62AB10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3114675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247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Scorecard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D88B53-7E6D-49EC-A45F-988F1531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The user sees one concrete behavior to improve.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03B611-0888-461C-B5C6-F8471FBE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10734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E05548-A259-4231-9067-F194E8CB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814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2625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9ED800-4251-43EC-A2B4-9B6B4961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4181475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247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Next mission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43E7DCF-8BCB-4EDD-84EB-3F1971281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10050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The next rep targets that behavior.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70C098-FCCD-460F-96DF-4A7DCDF70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43475"/>
            <a:ext cx="107346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37292A-80E3-4A76-B211-1F562DC7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4827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2625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A712CA-368E-4089-BD3C-100BE88E1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248275"/>
            <a:ext cx="342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247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Real-world challenge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5AC337-2F8D-44BC-88A6-6A9A1914E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76850"/>
            <a:ext cx="5715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The user tries the skill outside the app and logs what happened.</a:t>
            </a:r>
          </a:p>
        </p:txBody>
      </p:sp>
    </p:spTree>
    <p:extLst>
      <p:ext uri="{BB962C8B-B14F-4D97-AF65-F5344CB8AC3E}">
        <p14:creationId xmlns:p14="http://schemas.microsoft.com/office/powerpoint/2010/main" val="4843318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A5D0F7-AB3E-46EE-A491-1E2F4886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NERVE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54563A-4323-4A08-9C3D-A6237A00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A70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706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F60DB5-C2A0-4D95-B166-F48B401F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AA3B8A-3418-45B6-A059-5BB37A4CF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Business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029B46-C4A8-4089-A884-E1F5CEFA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523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4F8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4F82A"/>
                </a:solidFill>
                <a:latin typeface="Arial"/>
                <a:ea typeface="Arial"/>
                <a:cs typeface="Arial"/>
              </a:rPr>
              <a:t>SUBSCRIPTION VOICE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5672F8-028D-474F-863A-AFFDF672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9077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517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$19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6A4807-AAA0-4190-B021-2D177DA68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6479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Pro / month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59E204-6774-4827-BA61-68FAC35B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956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DEF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DEFE8"/>
                </a:solidFill>
                <a:latin typeface="Arial"/>
                <a:ea typeface="Arial"/>
                <a:cs typeface="Arial"/>
              </a:rPr>
              <a:t>3 dating voice reps per day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B31999-B99A-42C7-A36C-947CAFAD7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072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B7F4FD-2F62-47C2-A779-3B9A23BE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38625"/>
            <a:ext cx="2238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17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517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$49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5E033C-BC7D-4F46-8A3C-180EEFE7B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4958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Elite / month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97EBEF-1272-4B75-BB72-E218446B0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DEFE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EDEFE8"/>
                </a:solidFill>
                <a:latin typeface="Arial"/>
                <a:ea typeface="Arial"/>
                <a:cs typeface="Arial"/>
              </a:rPr>
              <a:t>6 dating voice reps per day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DB4B26-DA98-4B3C-B387-2AD3467C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38350"/>
            <a:ext cx="419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4F82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4F82A"/>
                </a:solidFill>
                <a:latin typeface="Arial"/>
                <a:ea typeface="Arial"/>
                <a:cs typeface="Arial"/>
              </a:rPr>
              <a:t>INTERVIEW PACKS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5E0B6E-AF3A-4412-AF91-39FBE580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00325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345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$6  /  $20  /  $45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4C62B8-6FCC-4116-B2F5-75DFB987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71850"/>
            <a:ext cx="44291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2, 8, or 20 one-time credits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EA420D-C32C-42E9-B9FC-490D8E0B2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14850"/>
            <a:ext cx="4572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Every account starts with one free dating rep and a five-minute interview screener.</a:t>
            </a:r>
          </a:p>
        </p:txBody>
      </p:sp>
    </p:spTree>
    <p:extLst>
      <p:ext uri="{BB962C8B-B14F-4D97-AF65-F5344CB8AC3E}">
        <p14:creationId xmlns:p14="http://schemas.microsoft.com/office/powerpoint/2010/main" val="21361718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887310-1BA6-433A-B97E-9F59757E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NERVE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CAEFB2-ACA6-4819-8D06-B72D8BBC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A70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706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501A89-C12B-440E-BF55-8C4E56966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2D47AE-2000-4FE7-9463-6C29B6646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Early 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ACB6E-2CE6-4F16-944C-D0F2B1CB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6675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6675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89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F5095-3B05-42FF-B414-B060B35F0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248025"/>
            <a:ext cx="3476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dating sessions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996872-4600-4ABC-BEB1-725C0F4E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3886200"/>
            <a:ext cx="425767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Across 17 user accounts in an internal product audit.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7B910B-CAFA-4696-B141-86524130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2066925"/>
            <a:ext cx="0" cy="3124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D032D3-319F-4764-AC0E-6C4D374F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33600"/>
            <a:ext cx="44577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622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622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0 / 42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7ED25C-BC10-44DB-80EC-C8C6E7625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3248025"/>
            <a:ext cx="46482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21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visit-to-account conversions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443AFB-8F30-40EB-A821-A3F60468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4105275"/>
            <a:ext cx="46101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Paid-social visits, 4–10 Sep. The sign-up flow was then instrumented and changed.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1C5A93-8809-4860-814F-9F8E787E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838825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C4F82A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4F82A"/>
                </a:solidFill>
                <a:latin typeface="Arial"/>
                <a:ea typeface="Arial"/>
                <a:cs typeface="Arial"/>
              </a:rPr>
              <a:t>These are learning signals, not proof of repeat paid demand.</a:t>
            </a:r>
          </a:p>
        </p:txBody>
      </p:sp>
    </p:spTree>
    <p:extLst>
      <p:ext uri="{BB962C8B-B14F-4D97-AF65-F5344CB8AC3E}">
        <p14:creationId xmlns:p14="http://schemas.microsoft.com/office/powerpoint/2010/main" val="45686475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61CF05-472E-4C95-8393-EDEF82699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NERVE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35A4EB-5232-495D-8B7E-D28DEDC5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A70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706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021DFE-FE4F-4A14-BA30-7418B66A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938637-A66B-49F2-A48D-0DFB78CB8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Customer focus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C9003-C003-47B1-801A-7DACA5BB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478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4F8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4F82A"/>
                </a:solidFill>
                <a:latin typeface="Arial"/>
                <a:ea typeface="Arial"/>
                <a:cs typeface="Arial"/>
              </a:rPr>
              <a:t>ENTRY SEGMENT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FC6335-4FB0-4435-8758-2C3B504D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48006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33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Young adults who avoid starting conversations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9873C7-E9E1-4CE3-ABDB-FB28D8B1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47244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The dating track offers short, repeatable practice and a real-world challenge.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A1FBD0-F720-4A0D-8CA4-AAAAF6C0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62150"/>
            <a:ext cx="0" cy="3667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3E7D9C-F3FC-44EB-BD12-9BF255D6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47875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4F8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4F82A"/>
                </a:solidFill>
                <a:latin typeface="Arial"/>
                <a:ea typeface="Arial"/>
                <a:cs typeface="Arial"/>
              </a:rPr>
              <a:t>ADJACENT SEGMENT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C3ADC5-5E04-47C9-A368-1025B75A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571750"/>
            <a:ext cx="4810125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33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Candidates preparing for early career interviews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5ABC09-8B2A-49D3-A31B-0F99FB95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91050"/>
            <a:ext cx="47053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The interview track adds CV-aware rounds and a one-time credit purchase.</a:t>
            </a:r>
          </a:p>
        </p:txBody>
      </p:sp>
    </p:spTree>
    <p:extLst>
      <p:ext uri="{BB962C8B-B14F-4D97-AF65-F5344CB8AC3E}">
        <p14:creationId xmlns:p14="http://schemas.microsoft.com/office/powerpoint/2010/main" val="6646544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22B87E-082B-422E-89BC-1637A5C7E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NERVE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46F08-8B6F-4A17-BAC7-A04207C0C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A70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7062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0667E7-2A3B-4EAA-B009-950D9FDDF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B89C0A-47AD-46BE-B666-36B88F62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Go-to-market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ED48EA-8F5A-48FA-BED4-43A4607A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145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4F8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4F82A"/>
                </a:solidFill>
                <a:latin typeface="Arial"/>
                <a:ea typeface="Arial"/>
                <a:cs typeface="Arial"/>
              </a:rPr>
              <a:t>US LAUNCH EXPERIMENT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F3D32E-BFC8-44FE-906A-F26CA731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62225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292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Short-form content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6A7FD7-F06D-458B-993F-FFB54491A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47434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Show one recognizable conversation mistake and the rep that corrects it.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FF100D-2E6D-4012-95DD-05F6B9B2E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190750"/>
            <a:ext cx="0" cy="3286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47B3EF-224B-4078-B6DD-52B5AC02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562225"/>
            <a:ext cx="4429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2925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Creator referrals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8CFCD7-263B-4329-8B3B-E1DFDB7FB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257550"/>
            <a:ext cx="45910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Test small paid creators while measuring each step from visit to first rep and purchase.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F0B384-2C78-4A05-962C-E17BA9F6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81600"/>
            <a:ext cx="10725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116308-63F1-4652-A038-E4C537BE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149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C4F82A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4F82A"/>
                </a:solidFill>
                <a:latin typeface="Arial"/>
                <a:ea typeface="Arial"/>
                <a:cs typeface="Arial"/>
              </a:rPr>
              <a:t>The planned 60-day budget is $340. The decision metric is paid, repeat use.</a:t>
            </a:r>
          </a:p>
        </p:txBody>
      </p:sp>
    </p:spTree>
    <p:extLst>
      <p:ext uri="{BB962C8B-B14F-4D97-AF65-F5344CB8AC3E}">
        <p14:creationId xmlns:p14="http://schemas.microsoft.com/office/powerpoint/2010/main" val="7272408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5BF9B-141C-41A0-B4B9-2A12716A0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NERVE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BBA672-C0E6-4B93-ABBD-153DF01A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A70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7062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046F51-A159-4110-A79A-3961E95F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5DA44-708C-4A71-BE85-A85F88D07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Founder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B23D5-B1D5-4D5F-9EA9-9D8C2A016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6572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585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Pabath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9179F6-17B2-4011-96C8-6208AB3B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28950"/>
            <a:ext cx="9829800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54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Wedamuhand irama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11EC4E-2BBB-477A-94F2-D47E5154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286250"/>
            <a:ext cx="94297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EDEFE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DEFE8"/>
                </a:solidFill>
                <a:latin typeface="Arial"/>
                <a:ea typeface="Arial"/>
                <a:cs typeface="Arial"/>
              </a:rPr>
              <a:t>Solo founder  ·  Sri Lanka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E72B66-EDC5-43CE-ABD0-0B97431A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76825"/>
            <a:ext cx="10591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D77156-275E-4D71-A73E-EAAA3050D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103060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Nerve is live with voice reps, scorecards, billing, and an interview track.</a:t>
            </a:r>
          </a:p>
        </p:txBody>
      </p:sp>
    </p:spTree>
    <p:extLst>
      <p:ext uri="{BB962C8B-B14F-4D97-AF65-F5344CB8AC3E}">
        <p14:creationId xmlns:p14="http://schemas.microsoft.com/office/powerpoint/2010/main" val="10068365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113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9D9513-FF03-47C4-9687-7A7B97D58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428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180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NERVE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195535-60C0-471D-A927-30559C49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285750"/>
            <a:ext cx="47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6A7062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6A7062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972CAC-FE7E-457E-9FC6-B121B04C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722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43AFA5-6589-459E-846E-81419570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42975"/>
            <a:ext cx="10763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defRPr>
            </a:pPr>
            <a:r>
              <a:rPr sz="3600" b="1">
                <a:solidFill>
                  <a:srgbClr val="EDEFE8"/>
                </a:solidFill>
                <a:latin typeface="Arial Narrow"/>
                <a:ea typeface="Arial Narrow"/>
                <a:cs typeface="Arial Narrow"/>
              </a:rPr>
              <a:t>The ask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61B806-EA23-4DA4-8328-D7CFE2945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981200"/>
            <a:ext cx="1025842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705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defRPr>
            </a:pPr>
            <a:r>
              <a:rPr sz="7050" b="1">
                <a:solidFill>
                  <a:srgbClr val="C4F82A"/>
                </a:solidFill>
                <a:latin typeface="Arial Narrow"/>
                <a:ea typeface="Arial Narrow"/>
                <a:cs typeface="Arial Narrow"/>
              </a:rPr>
              <a:t>Raising $100k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60CCE8-2224-4B6D-8A9E-717A8BC25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438525"/>
            <a:ext cx="1000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EDEFE8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EDEFE8"/>
                </a:solidFill>
                <a:latin typeface="Arial"/>
                <a:ea typeface="Arial"/>
                <a:cs typeface="Arial"/>
              </a:rPr>
              <a:t>Capital to test whether voice practice becomes repeat paid behavior.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DAB7BB-D1D5-4D2A-9B56-52A5A12A5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714875"/>
            <a:ext cx="10677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3382D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F7F998-9EED-4595-A7F4-220DCAD0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000625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C4F82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4F82A"/>
                </a:solidFill>
                <a:latin typeface="Arial"/>
                <a:ea typeface="Arial"/>
                <a:cs typeface="Arial"/>
              </a:rPr>
              <a:t>MILESTONES FOR THIS ROUND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E7A619-7AC2-4E41-8E1D-87DFE982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400675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9DA39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9DA396"/>
                </a:solidFill>
                <a:latin typeface="Arial"/>
                <a:ea typeface="Arial"/>
                <a:cs typeface="Arial"/>
              </a:rPr>
              <a:t>Validate the acquisition funnel. Prove paid conversion and retention. Improve voice quality and reliability with real users.</a:t>
            </a:r>
          </a:p>
        </p:txBody>
      </p:sp>
    </p:spTree>
    <p:extLst>
      <p:ext uri="{BB962C8B-B14F-4D97-AF65-F5344CB8AC3E}">
        <p14:creationId xmlns:p14="http://schemas.microsoft.com/office/powerpoint/2010/main" val="11174358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2026-09-12T09:17:39.3120000Z</dcterms:created>
  <dcterms:modified xsi:type="dcterms:W3CDTF">2026-09-12T09:17:39.3120000Z</dcterms:modified>
</coreProperties>
</file>